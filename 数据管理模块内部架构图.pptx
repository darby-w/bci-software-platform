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8E611-D6E5-7CC7-8420-075D48AE386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023D0E4-4C2F-B968-D6CC-AC8B1F348C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2EED8EF-64CB-6235-CBEF-B8268094776B}"/>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0C9AE930-EBD6-EF33-6F30-8B2E103610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78829F-E87C-16D3-A4EC-548C0F00D02C}"/>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1816390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173BAD-3A62-F49B-D379-9A8900BED20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A27B28D-724B-487F-AF5B-EF0AD4EF8C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94C5DE-CB2C-8C88-2228-3C115663CC88}"/>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4A23E2E2-BD35-A759-9F67-07FB1087C9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541888C-3377-00BD-7998-D5EFB9C656BE}"/>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2970633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3F24BB-17AC-02C6-A194-74A058A66AE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619A099-DB4E-DFBB-75F8-6E8830665C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9E9C2B1-AF83-8A43-7D73-4D47AC3988B4}"/>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80264D64-A20D-4BB6-C6F7-2A5AA9A851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77FEED-76EE-ED1B-3038-E15114A638A5}"/>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920651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9212C7-6101-B22A-8180-C9AEC7E64F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EF4FF49-F3C3-A7C7-0998-AE3E95C132D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BEC119-0395-5D6C-1FEC-46F24DE4B69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DC919EE-C4CE-02E4-365D-2510A7E575CD}"/>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26C3D090-A75D-2992-0933-C6A0E3D0C0A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1126FD-3220-2CE2-CD06-F0E0ADA0AE28}"/>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1468113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7AA5C8-22C3-FEE2-101C-7C136B5A529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C78307E-604C-20BE-F378-D9DD17FAE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2FF199B-52BB-3051-3355-110F3E04D51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5BF4626-9B4E-71DF-359E-CAEE45EA28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2F4651F-7FBF-5951-EFB7-3731D11692F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47CB483-0C04-2231-CB3D-4BE28E12D23D}"/>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8" name="页脚占位符 7">
            <a:extLst>
              <a:ext uri="{FF2B5EF4-FFF2-40B4-BE49-F238E27FC236}">
                <a16:creationId xmlns:a16="http://schemas.microsoft.com/office/drawing/2014/main" id="{E2A1014E-BD17-21BF-5F84-350223B0B40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D1CDA1F-14AC-B6D1-587A-A50B1E3CB6C1}"/>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673598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6A6F1C-A702-B809-245E-43C9269F7A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EC55B81-7520-9837-C4D4-81A67B943A75}"/>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4" name="页脚占位符 3">
            <a:extLst>
              <a:ext uri="{FF2B5EF4-FFF2-40B4-BE49-F238E27FC236}">
                <a16:creationId xmlns:a16="http://schemas.microsoft.com/office/drawing/2014/main" id="{69B3EF32-26A7-C69A-4FF7-649A55C0738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025F37D-F95E-1757-679F-51E96F97AE8E}"/>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3574782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5EFD5DB-DA44-27EF-0534-21CBF11176D0}"/>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3" name="页脚占位符 2">
            <a:extLst>
              <a:ext uri="{FF2B5EF4-FFF2-40B4-BE49-F238E27FC236}">
                <a16:creationId xmlns:a16="http://schemas.microsoft.com/office/drawing/2014/main" id="{59916332-0336-029B-7353-A5E9ABA2070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D2A59C0-A3ED-4D58-1DB1-8E013A5337A2}"/>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2824198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3FC842-B803-83B7-A236-CAE08207D3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8491D78-9AEE-B42A-8DDC-BCB658FE9D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E13F025-816C-999E-D27B-54AB1DAD8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4E1C02C-7E2C-014B-20EF-2E64ABC13B3C}"/>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36E35182-669A-8AF3-D39E-898E790ECE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78AB18-2530-5FCE-A74B-B4C9585CF238}"/>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20496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8C9D7F-DBA2-7225-4A35-6E4E1364A7D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B90CB73-2C5C-165E-C777-3B819FAC58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7A35325-0BB0-B23A-2E25-E61B8F2AE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1CD791F-5C29-3E36-4E92-AB258E5B235B}"/>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D1F83A74-B0C8-00AD-1628-74BFF6812A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58F7A0-EFD1-8FC9-A512-B607D68168C6}"/>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2361779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EB9270-57B1-6768-A9D6-EBF12D9E951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53A3EB-C775-60A2-C098-F77A195A877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5851BF-4727-8743-873C-1BEFDF9599BD}"/>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4CBC426C-9A4F-9811-8C12-77D9795C1B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9D3767-A224-69D4-3E5B-278B854FEE2F}"/>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117420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263E01A-7BB1-2189-B022-42AB3903931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6C54B9-5CB9-0BAF-5DE9-77C460ADE18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3DF54C-AA3E-1241-4178-8B64406FFAF3}"/>
              </a:ext>
            </a:extLst>
          </p:cNvPr>
          <p:cNvSpPr>
            <a:spLocks noGrp="1"/>
          </p:cNvSpPr>
          <p:nvPr>
            <p:ph type="dt" sz="half" idx="10"/>
          </p:nvPr>
        </p:nvSpPr>
        <p:spPr/>
        <p:txBody>
          <a:body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CA25949B-18C6-D049-8EF8-D77CE8FAC6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6D295C-3C17-7172-D192-8D72147269D8}"/>
              </a:ext>
            </a:extLst>
          </p:cNvPr>
          <p:cNvSpPr>
            <a:spLocks noGrp="1"/>
          </p:cNvSpPr>
          <p:nvPr>
            <p:ph type="sldNum" sz="quarter" idx="12"/>
          </p:nvPr>
        </p:nvSpPr>
        <p:spPr/>
        <p:txBody>
          <a:body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30597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95A803-AF2D-5FB0-7763-013C4DEA65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1193ADF-4D2B-E2F6-5571-38C121D8F0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4E120A-D74C-92E4-8841-0C215618DA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42BAAB-7E4C-48E9-BC6F-51B9F3B03E4D}"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F81D5364-0119-97AE-0656-F5E33ACDCB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748E19C-3459-F28E-3F2E-77B2954D2F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3F7171-3DC6-497A-B9E5-8AF54E21016B}" type="slidenum">
              <a:rPr lang="zh-CN" altLang="en-US" smtClean="0"/>
              <a:t>‹#›</a:t>
            </a:fld>
            <a:endParaRPr lang="zh-CN" altLang="en-US"/>
          </a:p>
        </p:txBody>
      </p:sp>
    </p:spTree>
    <p:extLst>
      <p:ext uri="{BB962C8B-B14F-4D97-AF65-F5344CB8AC3E}">
        <p14:creationId xmlns:p14="http://schemas.microsoft.com/office/powerpoint/2010/main" val="440714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B0CA9-6903-EC31-0FBC-F71099AE6E10}"/>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A74A945E-0236-1BD2-1E42-8107EF3CA47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52152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20262A95-58CF-3E90-317D-9C52237197A0}"/>
              </a:ext>
            </a:extLst>
          </p:cNvPr>
          <p:cNvSpPr/>
          <p:nvPr/>
        </p:nvSpPr>
        <p:spPr>
          <a:xfrm>
            <a:off x="1381056" y="438281"/>
            <a:ext cx="9150307" cy="5981438"/>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endParaRPr lang="zh-CN" altLang="en-US" dirty="0"/>
          </a:p>
        </p:txBody>
      </p:sp>
      <p:sp>
        <p:nvSpPr>
          <p:cNvPr id="5" name="文本框 4">
            <a:extLst>
              <a:ext uri="{FF2B5EF4-FFF2-40B4-BE49-F238E27FC236}">
                <a16:creationId xmlns:a16="http://schemas.microsoft.com/office/drawing/2014/main" id="{72DC0A86-A717-3B55-D812-AA5DFF20048C}"/>
              </a:ext>
            </a:extLst>
          </p:cNvPr>
          <p:cNvSpPr txBox="1"/>
          <p:nvPr/>
        </p:nvSpPr>
        <p:spPr>
          <a:xfrm>
            <a:off x="4594070" y="609915"/>
            <a:ext cx="2680873" cy="461665"/>
          </a:xfrm>
          <a:prstGeom prst="rect">
            <a:avLst/>
          </a:prstGeom>
          <a:noFill/>
        </p:spPr>
        <p:txBody>
          <a:bodyPr wrap="square" rtlCol="0">
            <a:spAutoFit/>
          </a:bodyPr>
          <a:lstStyle/>
          <a:p>
            <a:pPr algn="ctr"/>
            <a:r>
              <a:rPr lang="zh-CN" altLang="en-US" sz="2400" dirty="0">
                <a:solidFill>
                  <a:schemeClr val="dk1"/>
                </a:solidFill>
                <a:latin typeface="黑体" panose="02010609060101010101" pitchFamily="49" charset="-122"/>
                <a:ea typeface="黑体" panose="02010609060101010101" pitchFamily="49" charset="-122"/>
              </a:rPr>
              <a:t>数据管理模块</a:t>
            </a:r>
          </a:p>
        </p:txBody>
      </p:sp>
      <p:sp>
        <p:nvSpPr>
          <p:cNvPr id="6" name="矩形: 圆角 5">
            <a:extLst>
              <a:ext uri="{FF2B5EF4-FFF2-40B4-BE49-F238E27FC236}">
                <a16:creationId xmlns:a16="http://schemas.microsoft.com/office/drawing/2014/main" id="{F7B367CF-BBE3-8C81-6B88-ACD90F8C6ACF}"/>
              </a:ext>
            </a:extLst>
          </p:cNvPr>
          <p:cNvSpPr/>
          <p:nvPr/>
        </p:nvSpPr>
        <p:spPr>
          <a:xfrm>
            <a:off x="1917087" y="1116199"/>
            <a:ext cx="2453630" cy="1707514"/>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黑体" panose="02010609060101010101" pitchFamily="49" charset="-122"/>
                <a:ea typeface="黑体" panose="02010609060101010101" pitchFamily="49" charset="-122"/>
              </a:rPr>
              <a:t>数据导入与解析</a:t>
            </a:r>
          </a:p>
          <a:p>
            <a:pPr algn="ctr"/>
            <a:r>
              <a:rPr lang="zh-CN" altLang="en-US" dirty="0">
                <a:latin typeface="仿宋" panose="02010609060101010101" pitchFamily="49" charset="-122"/>
                <a:ea typeface="仿宋" panose="02010609060101010101" pitchFamily="49" charset="-122"/>
              </a:rPr>
              <a:t>（支持多格式脑信号数据的导入与标准化）</a:t>
            </a:r>
          </a:p>
        </p:txBody>
      </p:sp>
      <p:sp>
        <p:nvSpPr>
          <p:cNvPr id="8" name="矩形: 圆角 7">
            <a:extLst>
              <a:ext uri="{FF2B5EF4-FFF2-40B4-BE49-F238E27FC236}">
                <a16:creationId xmlns:a16="http://schemas.microsoft.com/office/drawing/2014/main" id="{50AD2B63-107D-1565-E7DD-D25F20B234FD}"/>
              </a:ext>
            </a:extLst>
          </p:cNvPr>
          <p:cNvSpPr/>
          <p:nvPr/>
        </p:nvSpPr>
        <p:spPr>
          <a:xfrm>
            <a:off x="1917086" y="4034288"/>
            <a:ext cx="2453630" cy="1707514"/>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黑体" panose="02010609060101010101" pitchFamily="49" charset="-122"/>
                <a:ea typeface="黑体" panose="02010609060101010101" pitchFamily="49" charset="-122"/>
              </a:rPr>
              <a:t>数据访问接口</a:t>
            </a:r>
          </a:p>
          <a:p>
            <a:pPr algn="ctr"/>
            <a:r>
              <a:rPr lang="zh-CN" altLang="en-US" dirty="0">
                <a:latin typeface="仿宋" panose="02010609060101010101" pitchFamily="49" charset="-122"/>
                <a:ea typeface="仿宋" panose="02010609060101010101" pitchFamily="49" charset="-122"/>
              </a:rPr>
              <a:t>（向其他模块提供统一的数据读取服务）</a:t>
            </a:r>
          </a:p>
        </p:txBody>
      </p:sp>
      <p:sp>
        <p:nvSpPr>
          <p:cNvPr id="2" name="矩形: 圆角 1">
            <a:extLst>
              <a:ext uri="{FF2B5EF4-FFF2-40B4-BE49-F238E27FC236}">
                <a16:creationId xmlns:a16="http://schemas.microsoft.com/office/drawing/2014/main" id="{B9F01729-917D-2A31-EAE7-404162B7A924}"/>
              </a:ext>
            </a:extLst>
          </p:cNvPr>
          <p:cNvSpPr/>
          <p:nvPr/>
        </p:nvSpPr>
        <p:spPr>
          <a:xfrm>
            <a:off x="4729395" y="2575243"/>
            <a:ext cx="2453630" cy="1707514"/>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黑体" panose="02010609060101010101" pitchFamily="49" charset="-122"/>
                <a:ea typeface="黑体" panose="02010609060101010101" pitchFamily="49" charset="-122"/>
              </a:rPr>
              <a:t>数据组织与分层</a:t>
            </a:r>
          </a:p>
          <a:p>
            <a:pPr algn="ctr"/>
            <a:r>
              <a:rPr lang="zh-CN" altLang="en-US" dirty="0">
                <a:latin typeface="仿宋" panose="02010609060101010101" pitchFamily="49" charset="-122"/>
                <a:ea typeface="仿宋" panose="02010609060101010101" pitchFamily="49" charset="-122"/>
              </a:rPr>
              <a:t>（统一管理原始、预处理、特征与模型数据）</a:t>
            </a:r>
          </a:p>
        </p:txBody>
      </p:sp>
      <p:sp>
        <p:nvSpPr>
          <p:cNvPr id="3" name="矩形: 圆角 2">
            <a:extLst>
              <a:ext uri="{FF2B5EF4-FFF2-40B4-BE49-F238E27FC236}">
                <a16:creationId xmlns:a16="http://schemas.microsoft.com/office/drawing/2014/main" id="{ED81F480-261B-1AF4-81C5-C5AB49761184}"/>
              </a:ext>
            </a:extLst>
          </p:cNvPr>
          <p:cNvSpPr/>
          <p:nvPr/>
        </p:nvSpPr>
        <p:spPr>
          <a:xfrm>
            <a:off x="7541703" y="1116199"/>
            <a:ext cx="2453630" cy="1707514"/>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黑体" panose="02010609060101010101" pitchFamily="49" charset="-122"/>
                <a:ea typeface="黑体" panose="02010609060101010101" pitchFamily="49" charset="-122"/>
              </a:rPr>
              <a:t>元数据管理</a:t>
            </a:r>
          </a:p>
          <a:p>
            <a:pPr algn="ctr"/>
            <a:r>
              <a:rPr lang="zh-CN" altLang="en-US" dirty="0">
                <a:latin typeface="仿宋" panose="02010609060101010101" pitchFamily="49" charset="-122"/>
                <a:ea typeface="仿宋" panose="02010609060101010101" pitchFamily="49" charset="-122"/>
              </a:rPr>
              <a:t>（维护被试、实验与采集参数等元信息）</a:t>
            </a:r>
          </a:p>
        </p:txBody>
      </p:sp>
      <p:sp>
        <p:nvSpPr>
          <p:cNvPr id="11" name="矩形: 圆角 10">
            <a:extLst>
              <a:ext uri="{FF2B5EF4-FFF2-40B4-BE49-F238E27FC236}">
                <a16:creationId xmlns:a16="http://schemas.microsoft.com/office/drawing/2014/main" id="{0F52ADB5-943A-5E20-F69B-8D625DC8B49A}"/>
              </a:ext>
            </a:extLst>
          </p:cNvPr>
          <p:cNvSpPr/>
          <p:nvPr/>
        </p:nvSpPr>
        <p:spPr>
          <a:xfrm>
            <a:off x="7541703" y="4034287"/>
            <a:ext cx="2453630" cy="1707514"/>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黑体" panose="02010609060101010101" pitchFamily="49" charset="-122"/>
                <a:ea typeface="黑体" panose="02010609060101010101" pitchFamily="49" charset="-122"/>
              </a:rPr>
              <a:t>版本与可复现性管理</a:t>
            </a:r>
          </a:p>
          <a:p>
            <a:pPr algn="ctr"/>
            <a:r>
              <a:rPr lang="zh-CN" altLang="en-US" dirty="0">
                <a:latin typeface="仿宋" panose="02010609060101010101" pitchFamily="49" charset="-122"/>
                <a:ea typeface="仿宋" panose="02010609060101010101" pitchFamily="49" charset="-122"/>
              </a:rPr>
              <a:t>（记录数据处理流程与实验参数）</a:t>
            </a:r>
          </a:p>
        </p:txBody>
      </p:sp>
      <p:cxnSp>
        <p:nvCxnSpPr>
          <p:cNvPr id="13" name="直接箭头连接符 12">
            <a:extLst>
              <a:ext uri="{FF2B5EF4-FFF2-40B4-BE49-F238E27FC236}">
                <a16:creationId xmlns:a16="http://schemas.microsoft.com/office/drawing/2014/main" id="{33723A9A-FE22-BCA1-377A-EAD94E29DC78}"/>
              </a:ext>
            </a:extLst>
          </p:cNvPr>
          <p:cNvCxnSpPr>
            <a:cxnSpLocks/>
            <a:endCxn id="2" idx="1"/>
          </p:cNvCxnSpPr>
          <p:nvPr/>
        </p:nvCxnSpPr>
        <p:spPr>
          <a:xfrm>
            <a:off x="3143901" y="2823714"/>
            <a:ext cx="1585494" cy="60528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9A7D87EA-8E5F-B3C6-64A5-4163E8895309}"/>
              </a:ext>
            </a:extLst>
          </p:cNvPr>
          <p:cNvCxnSpPr>
            <a:stCxn id="3" idx="2"/>
            <a:endCxn id="2" idx="3"/>
          </p:cNvCxnSpPr>
          <p:nvPr/>
        </p:nvCxnSpPr>
        <p:spPr>
          <a:xfrm flipH="1">
            <a:off x="7183025" y="2823713"/>
            <a:ext cx="1585493" cy="60528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000C8408-2730-F50A-2A54-BEBF81A7FB04}"/>
              </a:ext>
            </a:extLst>
          </p:cNvPr>
          <p:cNvCxnSpPr>
            <a:endCxn id="11" idx="0"/>
          </p:cNvCxnSpPr>
          <p:nvPr/>
        </p:nvCxnSpPr>
        <p:spPr>
          <a:xfrm>
            <a:off x="7183025" y="3429000"/>
            <a:ext cx="1585493" cy="60528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301FF378-CADD-B790-47DD-C3D5B6F8C566}"/>
              </a:ext>
            </a:extLst>
          </p:cNvPr>
          <p:cNvCxnSpPr>
            <a:cxnSpLocks/>
            <a:stCxn id="2" idx="1"/>
            <a:endCxn id="8" idx="0"/>
          </p:cNvCxnSpPr>
          <p:nvPr/>
        </p:nvCxnSpPr>
        <p:spPr>
          <a:xfrm flipH="1">
            <a:off x="3143901" y="3429000"/>
            <a:ext cx="1585494" cy="60528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4220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E59EE-29A0-ED5E-525F-4FCEDC5A659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2396800-7791-3A26-CB7C-2BAFFDFF62F5}"/>
              </a:ext>
            </a:extLst>
          </p:cNvPr>
          <p:cNvSpPr>
            <a:spLocks noGrp="1"/>
          </p:cNvSpPr>
          <p:nvPr>
            <p:ph idx="1"/>
          </p:nvPr>
        </p:nvSpPr>
        <p:spPr/>
        <p:txBody>
          <a:bodyPr/>
          <a:lstStyle/>
          <a:p>
            <a:r>
              <a:rPr lang="zh-CN" altLang="en-US" b="1" dirty="0"/>
              <a:t>数据管理模块内部架构说明</a:t>
            </a:r>
            <a:endParaRPr lang="en-US" altLang="zh-CN" b="1" dirty="0"/>
          </a:p>
          <a:p>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数据管理模块由数据导入与解析、数据组织与分层、元数据管理、版本与可复现性管理以及数据访问接口等子模块组成。其中，数据组织与分层模块作为核心，对原始数据、预处理数据、特征数据及模型数据进行统一管理。元数据管理与版本管理模块为数据提供实验参数与处理流程等附加信息，从而支持实验的可追溯性与可复现性。数据访问接口向平台其他功能模块提供统一的数据读取服务，实现模块间解耦。</a:t>
            </a:r>
          </a:p>
        </p:txBody>
      </p:sp>
    </p:spTree>
    <p:extLst>
      <p:ext uri="{BB962C8B-B14F-4D97-AF65-F5344CB8AC3E}">
        <p14:creationId xmlns:p14="http://schemas.microsoft.com/office/powerpoint/2010/main" val="31617930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184</Words>
  <Application>Microsoft Office PowerPoint</Application>
  <PresentationFormat>宽屏</PresentationFormat>
  <Paragraphs>14</Paragraphs>
  <Slides>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vt:i4>
      </vt:variant>
    </vt:vector>
  </HeadingPairs>
  <TitlesOfParts>
    <vt:vector size="9" baseType="lpstr">
      <vt:lpstr>等线</vt:lpstr>
      <vt:lpstr>等线 Light</vt:lpstr>
      <vt:lpstr>仿宋</vt:lpstr>
      <vt:lpstr>黑体</vt:lpstr>
      <vt:lpstr>Arial</vt:lpstr>
      <vt:lpstr>Office 主题​​</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zixuan wang</dc:creator>
  <cp:lastModifiedBy>zixuan wang</cp:lastModifiedBy>
  <cp:revision>3</cp:revision>
  <dcterms:created xsi:type="dcterms:W3CDTF">2026-01-30T05:48:54Z</dcterms:created>
  <dcterms:modified xsi:type="dcterms:W3CDTF">2026-01-30T13:51:03Z</dcterms:modified>
</cp:coreProperties>
</file>